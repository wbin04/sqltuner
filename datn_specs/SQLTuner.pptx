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B7DA52-83BE-4832-8171-370496DDBE65}">
  <a:tblStyle styleId="{BCB7DA52-83BE-4832-8171-370496DDBE65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regular.fntdata"/><Relationship Id="rId21" Type="http://schemas.openxmlformats.org/officeDocument/2006/relationships/slide" Target="slides/slide15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f2b3f5e87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f2b3f5e875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3.png"/><Relationship Id="rId4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3.png"/><Relationship Id="rId4" Type="http://schemas.openxmlformats.org/officeDocument/2006/relationships/image" Target="../media/image5.png"/><Relationship Id="rId5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3.png"/><Relationship Id="rId4" Type="http://schemas.openxmlformats.org/officeDocument/2006/relationships/image" Target="../media/image2.png"/><Relationship Id="rId9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3.png"/><Relationship Id="rId7" Type="http://schemas.openxmlformats.org/officeDocument/2006/relationships/image" Target="../media/image15.png"/><Relationship Id="rId8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3.png"/><Relationship Id="rId4" Type="http://schemas.openxmlformats.org/officeDocument/2006/relationships/image" Target="../media/image4.png"/><Relationship Id="rId10" Type="http://schemas.openxmlformats.org/officeDocument/2006/relationships/image" Target="../media/image18.png"/><Relationship Id="rId9" Type="http://schemas.openxmlformats.org/officeDocument/2006/relationships/image" Target="../media/image17.png"/><Relationship Id="rId5" Type="http://schemas.openxmlformats.org/officeDocument/2006/relationships/image" Target="../media/image8.png"/><Relationship Id="rId6" Type="http://schemas.openxmlformats.org/officeDocument/2006/relationships/image" Target="../media/image10.png"/><Relationship Id="rId7" Type="http://schemas.openxmlformats.org/officeDocument/2006/relationships/image" Target="../media/image12.png"/><Relationship Id="rId8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3.png"/><Relationship Id="rId4" Type="http://schemas.openxmlformats.org/officeDocument/2006/relationships/image" Target="../media/image19.png"/><Relationship Id="rId5" Type="http://schemas.openxmlformats.org/officeDocument/2006/relationships/image" Target="../media/image2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2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3.png"/><Relationship Id="rId4" Type="http://schemas.openxmlformats.org/officeDocument/2006/relationships/image" Target="../media/image1.pn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3.png"/><Relationship Id="rId4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Relationship Id="rId4" Type="http://schemas.openxmlformats.org/officeDocument/2006/relationships/image" Target="../media/image2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3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338387" y="3976687"/>
            <a:ext cx="7515225" cy="11906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150593" y="997437"/>
            <a:ext cx="7890900" cy="235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SQLTuner: AI Assistant for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5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b="1" lang="en-US" sz="4500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Automating Database Performance Optimization</a:t>
            </a:r>
            <a:r>
              <a:rPr lang="en-US" sz="1100">
                <a:solidFill>
                  <a:schemeClr val="dk1"/>
                </a:solidFill>
              </a:rPr>
              <a:t> 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338399" y="3525950"/>
            <a:ext cx="7515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Automating Query Generation, Evaluation, and Tuning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719387" y="4205287"/>
            <a:ext cx="67532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Nguyen Le Quoc Huy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| ID: 102220191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2719387" y="4462462"/>
            <a:ext cx="67532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Class: 22T_DT4 | Faculty of Information Technology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719387" y="4719637"/>
            <a:ext cx="67532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 Nang University of Science and Technology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95525"/>
            <a:ext cx="5286375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571500" y="2295525"/>
            <a:ext cx="52863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project originated during an internship at </a:t>
            </a:r>
            <a:endParaRPr b="0" i="0" sz="1850" u="none" cap="none" strike="noStrik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DAC Data Technology Vietnam</a:t>
            </a:r>
            <a:r>
              <a:rPr b="0" i="0" lang="en-US" sz="18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, a company </a:t>
            </a:r>
            <a:endParaRPr b="0" i="0" sz="1850" u="none" cap="none" strike="noStrike">
              <a:solidFill>
                <a:srgbClr val="475569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specializing in big data solutions.</a:t>
            </a:r>
            <a:endParaRPr sz="1600"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3747700"/>
            <a:ext cx="5286300" cy="11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focus was on addressing critical challenges in database performance optimization that impact developer productivity and system efficiency.</a:t>
            </a:r>
            <a:endParaRPr sz="1600"/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43650" y="2305050"/>
            <a:ext cx="5267325" cy="3314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952500" y="3067050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Expertise Barrier: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Complex SQL tuning requires deep technical knowledge and significant manual effort.</a:t>
            </a:r>
            <a:endParaRPr sz="1700"/>
          </a:p>
        </p:txBody>
      </p:sp>
      <p:sp>
        <p:nvSpPr>
          <p:cNvPr id="108" name="Google Shape;108;p15"/>
          <p:cNvSpPr txBox="1"/>
          <p:nvPr/>
        </p:nvSpPr>
        <p:spPr>
          <a:xfrm>
            <a:off x="952500" y="3514725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LLM Fragmentations: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Current AI assistants generate code but lack awareness of actual performance or schema scale.</a:t>
            </a:r>
            <a:endParaRPr sz="1700"/>
          </a:p>
        </p:txBody>
      </p:sp>
      <p:sp>
        <p:nvSpPr>
          <p:cNvPr id="109" name="Google Shape;109;p15"/>
          <p:cNvSpPr txBox="1"/>
          <p:nvPr/>
        </p:nvSpPr>
        <p:spPr>
          <a:xfrm>
            <a:off x="952500" y="4405350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Lack of Testing: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No standardized frameworks for batch evaluation of AI-generated SQL accuracy.</a:t>
            </a:r>
            <a:endParaRPr sz="1700"/>
          </a:p>
        </p:txBody>
      </p:sp>
      <p:sp>
        <p:nvSpPr>
          <p:cNvPr id="110" name="Google Shape;110;p15"/>
          <p:cNvSpPr txBox="1"/>
          <p:nvPr/>
        </p:nvSpPr>
        <p:spPr>
          <a:xfrm>
            <a:off x="952500" y="3962400"/>
            <a:ext cx="106680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Security Risks: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Executing AI-generated code on production systems poses risks of data corruption or loss.</a:t>
            </a:r>
            <a:endParaRPr sz="1700"/>
          </a:p>
        </p:txBody>
      </p:sp>
      <p:sp>
        <p:nvSpPr>
          <p:cNvPr id="111" name="Google Shape;111;p1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Core Challenges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670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147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9624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410075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1" name="Google Shape;121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43200"/>
            <a:ext cx="3492549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743200"/>
            <a:ext cx="3492549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743200"/>
            <a:ext cx="3492549" cy="2438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3038475"/>
            <a:ext cx="29019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794225" y="363855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Generation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866775" y="4114800"/>
            <a:ext cx="2901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Translates natural language into executable SQL using metadata-aware Local LLMs.</a:t>
            </a:r>
            <a:endParaRPr sz="1500"/>
          </a:p>
        </p:txBody>
      </p:sp>
      <p:pic>
        <p:nvPicPr>
          <p:cNvPr descr="image.png" id="128" name="Google Shape;12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5074" y="3038475"/>
            <a:ext cx="29019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>
            <a:off x="4572524" y="363855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Optimization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4645074" y="4114800"/>
            <a:ext cx="2901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Analyzes Execution Plans (EXPLAIN) to propose indexing and query refactoring.</a:t>
            </a:r>
            <a:endParaRPr sz="1500"/>
          </a:p>
        </p:txBody>
      </p:sp>
      <p:pic>
        <p:nvPicPr>
          <p:cNvPr descr="image.png" id="131" name="Google Shape;131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3374" y="3038475"/>
            <a:ext cx="2901999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8350824" y="3638550"/>
            <a:ext cx="3047099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Evaluation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423374" y="4114800"/>
            <a:ext cx="29019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Automated batch testing against Spider/BIRD benchmarks in a secure sandbox.</a:t>
            </a:r>
            <a:endParaRPr sz="1500"/>
          </a:p>
        </p:txBody>
      </p:sp>
      <p:sp>
        <p:nvSpPr>
          <p:cNvPr id="134" name="Google Shape;134;p1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The SQLTuner Solution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895475"/>
            <a:ext cx="5381625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1895475"/>
            <a:ext cx="5381625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05275"/>
            <a:ext cx="5381625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4105275"/>
            <a:ext cx="5381625" cy="19240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5" name="Google Shape;145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66775" y="2190750"/>
            <a:ext cx="47910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7"/>
          <p:cNvSpPr txBox="1"/>
          <p:nvPr/>
        </p:nvSpPr>
        <p:spPr>
          <a:xfrm>
            <a:off x="746998" y="2790825"/>
            <a:ext cx="503062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Backend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866775" y="3267075"/>
            <a:ext cx="47910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FastAPI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&amp;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SQLAlchemy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high-performance async processing.</a:t>
            </a:r>
            <a:endParaRPr/>
          </a:p>
        </p:txBody>
      </p:sp>
      <p:pic>
        <p:nvPicPr>
          <p:cNvPr descr="image.png" id="148" name="Google Shape;148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534150" y="2190750"/>
            <a:ext cx="47910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6414373" y="2790825"/>
            <a:ext cx="503062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AI Engine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6534150" y="3267075"/>
            <a:ext cx="47910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Local LLMs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(Qwen, Llama-3) to ensure complete data privacy.</a:t>
            </a:r>
            <a:endParaRPr/>
          </a:p>
        </p:txBody>
      </p:sp>
      <p:pic>
        <p:nvPicPr>
          <p:cNvPr descr="image.png" id="151" name="Google Shape;151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6775" y="4400550"/>
            <a:ext cx="47910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7"/>
          <p:cNvSpPr txBox="1"/>
          <p:nvPr/>
        </p:nvSpPr>
        <p:spPr>
          <a:xfrm>
            <a:off x="746998" y="5000625"/>
            <a:ext cx="503062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Database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66775" y="5476875"/>
            <a:ext cx="47910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PostgreSQL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integrated with deep Execution Plan analysis tools.</a:t>
            </a:r>
            <a:endParaRPr/>
          </a:p>
        </p:txBody>
      </p:sp>
      <p:pic>
        <p:nvPicPr>
          <p:cNvPr descr="image.png" id="154" name="Google Shape;154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534150" y="4400550"/>
            <a:ext cx="4791075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6414373" y="5000625"/>
            <a:ext cx="5030628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Infrastructure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6534150" y="5476875"/>
            <a:ext cx="47910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Docker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containerization and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Sandbox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isolation.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System Technologies</a:t>
            </a:r>
            <a:endParaRPr/>
          </a:p>
        </p:txBody>
      </p:sp>
      <p:sp>
        <p:nvSpPr>
          <p:cNvPr id="158" name="Google Shape;158;p17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3" name="Google Shape;16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4" name="Google Shape;164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171825"/>
            <a:ext cx="5286375" cy="15811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3171825"/>
            <a:ext cx="5286375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8"/>
          <p:cNvSpPr txBox="1"/>
          <p:nvPr/>
        </p:nvSpPr>
        <p:spPr>
          <a:xfrm>
            <a:off x="866775" y="3467100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Prompt Engineering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866775" y="3943350"/>
            <a:ext cx="4695900" cy="5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Utilizing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Chain-of-Thought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Few-shot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prompting to guide LLMs through complex schema linking and logic derivation.</a:t>
            </a:r>
            <a:endParaRPr/>
          </a:p>
        </p:txBody>
      </p:sp>
      <p:sp>
        <p:nvSpPr>
          <p:cNvPr id="168" name="Google Shape;168;p18"/>
          <p:cNvSpPr txBox="1"/>
          <p:nvPr/>
        </p:nvSpPr>
        <p:spPr>
          <a:xfrm>
            <a:off x="6629400" y="3467100"/>
            <a:ext cx="493061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Performance Metrics</a:t>
            </a:r>
            <a:endParaRPr/>
          </a:p>
        </p:txBody>
      </p:sp>
      <p:sp>
        <p:nvSpPr>
          <p:cNvPr id="169" name="Google Shape;169;p18"/>
          <p:cNvSpPr txBox="1"/>
          <p:nvPr/>
        </p:nvSpPr>
        <p:spPr>
          <a:xfrm>
            <a:off x="6629400" y="3943350"/>
            <a:ext cx="46959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Measuring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Execution Accuracy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Exact Match 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 quantitatively score model quality vs standard datasets.</a:t>
            </a:r>
            <a:endParaRPr/>
          </a:p>
        </p:txBody>
      </p:sp>
      <p:sp>
        <p:nvSpPr>
          <p:cNvPr id="170" name="Google Shape;170;p18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Theoretical Foundation</a:t>
            </a: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2519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9"/>
          <p:cNvSpPr txBox="1"/>
          <p:nvPr/>
        </p:nvSpPr>
        <p:spPr>
          <a:xfrm>
            <a:off x="571500" y="595925"/>
            <a:ext cx="5200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System Architecture</a:t>
            </a:r>
            <a:endParaRPr/>
          </a:p>
        </p:txBody>
      </p:sp>
      <p:sp>
        <p:nvSpPr>
          <p:cNvPr id="178" name="Google Shape;178;p19"/>
          <p:cNvSpPr txBox="1"/>
          <p:nvPr/>
        </p:nvSpPr>
        <p:spPr>
          <a:xfrm>
            <a:off x="952500" y="1643675"/>
            <a:ext cx="4572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Metadata Crawler: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Extracts table structures and constraints for AI context.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952500" y="2348525"/>
            <a:ext cx="4572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Optimization Engine: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Reads EXPLAIN JSON to identify bottlenecks.</a:t>
            </a:r>
            <a:endParaRPr/>
          </a:p>
        </p:txBody>
      </p:sp>
      <p:sp>
        <p:nvSpPr>
          <p:cNvPr id="180" name="Google Shape;180;p19"/>
          <p:cNvSpPr txBox="1"/>
          <p:nvPr/>
        </p:nvSpPr>
        <p:spPr>
          <a:xfrm>
            <a:off x="952500" y="3053375"/>
            <a:ext cx="4572000" cy="5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Sandbox Module: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Executes queries in an isolated, zero-mutation state.</a:t>
            </a:r>
            <a:endParaRPr/>
          </a:p>
        </p:txBody>
      </p:sp>
      <p:pic>
        <p:nvPicPr>
          <p:cNvPr descr="image.png" id="181" name="Google Shape;181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436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2" name="Google Shape;18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485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3" name="Google Shape;18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53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185880"/>
            <a:ext cx="12192000" cy="3982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9" name="Google Shape;18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6715125" y="2295525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Transaction Rollback: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Every query is executed within a transaction that rolls back immediately after result verification.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6715125" y="3000375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DML Protection: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Blocks destructive commands (DROP, TRUNCATE) to preserve database integrity.</a:t>
            </a:r>
            <a:endParaRPr/>
          </a:p>
        </p:txBody>
      </p:sp>
      <p:sp>
        <p:nvSpPr>
          <p:cNvPr id="192" name="Google Shape;192;p20"/>
          <p:cNvSpPr txBox="1"/>
          <p:nvPr/>
        </p:nvSpPr>
        <p:spPr>
          <a:xfrm>
            <a:off x="6715125" y="3705225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Data Mocking: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Populates virtual schemas with representative samples for safe logic testing.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Secure Sandbox Environment</a:t>
            </a:r>
            <a:endParaRPr/>
          </a:p>
        </p:txBody>
      </p:sp>
      <p:sp>
        <p:nvSpPr>
          <p:cNvPr id="194" name="Google Shape;194;p20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95" name="Google Shape;19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22955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6" name="Google Shape;196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000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7" name="Google Shape;19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705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496206"/>
            <a:ext cx="12192000" cy="42624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3" name="Google Shape;20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 txBox="1"/>
          <p:nvPr/>
        </p:nvSpPr>
        <p:spPr>
          <a:xfrm>
            <a:off x="952500" y="2295525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Chat Interface: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Seamless Text-to-SQL conversion with conversation history.</a:t>
            </a:r>
            <a:endParaRPr/>
          </a:p>
        </p:txBody>
      </p:sp>
      <p:sp>
        <p:nvSpPr>
          <p:cNvPr id="205" name="Google Shape;205;p21"/>
          <p:cNvSpPr txBox="1"/>
          <p:nvPr/>
        </p:nvSpPr>
        <p:spPr>
          <a:xfrm>
            <a:off x="952500" y="3000375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Schema Inspector: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Interactive ERD and table metadata visualization.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952500" y="3705225"/>
            <a:ext cx="4905375" cy="514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Optimization Panel: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Visual "Diff" for query refactoring and cost analysis.</a:t>
            </a:r>
            <a:endParaRPr/>
          </a:p>
        </p:txBody>
      </p:sp>
      <p:sp>
        <p:nvSpPr>
          <p:cNvPr id="207" name="Google Shape;207;p21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Intelligent Interface</a:t>
            </a:r>
            <a:endParaRPr/>
          </a:p>
        </p:txBody>
      </p:sp>
      <p:sp>
        <p:nvSpPr>
          <p:cNvPr id="208" name="Google Shape;208;p21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09" name="Google Shape;209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2955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0003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1" name="Google Shape;211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7052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1622805"/>
            <a:ext cx="12192000" cy="3982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7" name="Google Shape;21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2"/>
          <p:cNvSpPr txBox="1"/>
          <p:nvPr/>
        </p:nvSpPr>
        <p:spPr>
          <a:xfrm>
            <a:off x="571500" y="315277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Key Results</a:t>
            </a:r>
            <a:endParaRPr/>
          </a:p>
        </p:txBody>
      </p:sp>
      <p:sp>
        <p:nvSpPr>
          <p:cNvPr id="219" name="Google Shape;219;p22"/>
          <p:cNvSpPr txBox="1"/>
          <p:nvPr/>
        </p:nvSpPr>
        <p:spPr>
          <a:xfrm>
            <a:off x="6334125" y="3152775"/>
            <a:ext cx="5550693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Future Directions</a:t>
            </a:r>
            <a:endParaRPr/>
          </a:p>
        </p:txBody>
      </p:sp>
      <p:sp>
        <p:nvSpPr>
          <p:cNvPr id="220" name="Google Shape;220;p22"/>
          <p:cNvSpPr txBox="1"/>
          <p:nvPr/>
        </p:nvSpPr>
        <p:spPr>
          <a:xfrm>
            <a:off x="952500" y="3429000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Integrated platform for query generation and evaluation.</a:t>
            </a:r>
            <a:endParaRPr/>
          </a:p>
        </p:txBody>
      </p:sp>
      <p:sp>
        <p:nvSpPr>
          <p:cNvPr id="221" name="Google Shape;221;p22"/>
          <p:cNvSpPr txBox="1"/>
          <p:nvPr/>
        </p:nvSpPr>
        <p:spPr>
          <a:xfrm>
            <a:off x="952500" y="3876675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Significant DBA workload reduction through AI optimization.</a:t>
            </a:r>
            <a:endParaRPr/>
          </a:p>
        </p:txBody>
      </p:sp>
      <p:sp>
        <p:nvSpPr>
          <p:cNvPr id="222" name="Google Shape;222;p22"/>
          <p:cNvSpPr txBox="1"/>
          <p:nvPr/>
        </p:nvSpPr>
        <p:spPr>
          <a:xfrm>
            <a:off x="952500" y="4324350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Secure execution via Sandbox technology.</a:t>
            </a:r>
            <a:endParaRPr/>
          </a:p>
        </p:txBody>
      </p:sp>
      <p:sp>
        <p:nvSpPr>
          <p:cNvPr id="223" name="Google Shape;223;p22"/>
          <p:cNvSpPr txBox="1"/>
          <p:nvPr/>
        </p:nvSpPr>
        <p:spPr>
          <a:xfrm>
            <a:off x="6715125" y="3429000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Implementing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RAG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better domain knowledge.</a:t>
            </a:r>
            <a:endParaRPr/>
          </a:p>
        </p:txBody>
      </p:sp>
      <p:sp>
        <p:nvSpPr>
          <p:cNvPr id="224" name="Google Shape;224;p22"/>
          <p:cNvSpPr txBox="1"/>
          <p:nvPr/>
        </p:nvSpPr>
        <p:spPr>
          <a:xfrm>
            <a:off x="6715125" y="3876675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Expanding to cloud data warehouses (BigQuery/Snowflake).</a:t>
            </a:r>
            <a:endParaRPr/>
          </a:p>
        </p:txBody>
      </p:sp>
      <p:sp>
        <p:nvSpPr>
          <p:cNvPr id="225" name="Google Shape;225;p22"/>
          <p:cNvSpPr txBox="1"/>
          <p:nvPr/>
        </p:nvSpPr>
        <p:spPr>
          <a:xfrm>
            <a:off x="6715125" y="4324350"/>
            <a:ext cx="490537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Incorporating </a:t>
            </a: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RLHF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for better user alignment.</a:t>
            </a:r>
            <a:endParaRPr/>
          </a:p>
        </p:txBody>
      </p:sp>
      <p:sp>
        <p:nvSpPr>
          <p:cNvPr id="226" name="Google Shape;226;p22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Conclusion &amp; Future Work</a:t>
            </a:r>
            <a:endParaRPr/>
          </a:p>
        </p:txBody>
      </p:sp>
      <p:sp>
        <p:nvSpPr>
          <p:cNvPr id="227" name="Google Shape;227;p22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28" name="Google Shape;22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4290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9" name="Google Shape;229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8766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0" name="Google Shape;23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32435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1" name="Google Shape;23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42900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2" name="Google Shape;23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387667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324350"/>
            <a:ext cx="22860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1847850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3"/>
          <p:cNvSpPr txBox="1"/>
          <p:nvPr/>
        </p:nvSpPr>
        <p:spPr>
          <a:xfrm>
            <a:off x="1470300" y="2864800"/>
            <a:ext cx="9251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Thank you for your attention!</a:t>
            </a:r>
            <a:endParaRPr/>
          </a:p>
        </p:txBody>
      </p:sp>
      <p:sp>
        <p:nvSpPr>
          <p:cNvPr id="241" name="Google Shape;241;p23"/>
          <p:cNvSpPr txBox="1"/>
          <p:nvPr/>
        </p:nvSpPr>
        <p:spPr>
          <a:xfrm>
            <a:off x="4391025" y="3676650"/>
            <a:ext cx="341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3"/>
          <p:cNvSpPr txBox="1"/>
          <p:nvPr/>
        </p:nvSpPr>
        <p:spPr>
          <a:xfrm>
            <a:off x="4391025" y="4400550"/>
            <a:ext cx="34099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Nguyen Le Quoc Huy</a:t>
            </a:r>
            <a:endParaRPr/>
          </a:p>
        </p:txBody>
      </p:sp>
      <p:sp>
        <p:nvSpPr>
          <p:cNvPr id="243" name="Google Shape;243;p23"/>
          <p:cNvSpPr txBox="1"/>
          <p:nvPr/>
        </p:nvSpPr>
        <p:spPr>
          <a:xfrm>
            <a:off x="4122000" y="4762200"/>
            <a:ext cx="394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 Nang University of Science and Technology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8" name="Google Shape;24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9" name="Google Shape;24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19750" y="1847850"/>
            <a:ext cx="9525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24"/>
          <p:cNvSpPr txBox="1"/>
          <p:nvPr/>
        </p:nvSpPr>
        <p:spPr>
          <a:xfrm>
            <a:off x="1470300" y="2864800"/>
            <a:ext cx="92514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5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Thank you for your attention!</a:t>
            </a:r>
            <a:endParaRPr/>
          </a:p>
        </p:txBody>
      </p:sp>
      <p:sp>
        <p:nvSpPr>
          <p:cNvPr id="251" name="Google Shape;251;p24"/>
          <p:cNvSpPr txBox="1"/>
          <p:nvPr/>
        </p:nvSpPr>
        <p:spPr>
          <a:xfrm>
            <a:off x="4391025" y="3676650"/>
            <a:ext cx="34101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4"/>
          <p:cNvSpPr txBox="1"/>
          <p:nvPr/>
        </p:nvSpPr>
        <p:spPr>
          <a:xfrm>
            <a:off x="4391025" y="4400550"/>
            <a:ext cx="34101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Nguyen Le Quoc Huy</a:t>
            </a:r>
            <a:endParaRPr/>
          </a:p>
        </p:txBody>
      </p:sp>
      <p:sp>
        <p:nvSpPr>
          <p:cNvPr id="253" name="Google Shape;253;p24"/>
          <p:cNvSpPr txBox="1"/>
          <p:nvPr/>
        </p:nvSpPr>
        <p:spPr>
          <a:xfrm>
            <a:off x="4122000" y="4762200"/>
            <a:ext cx="3948000" cy="2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Da Nang University of Science and Technology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8" name="Google Shape;25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25"/>
          <p:cNvSpPr txBox="1"/>
          <p:nvPr/>
        </p:nvSpPr>
        <p:spPr>
          <a:xfrm>
            <a:off x="1938337" y="4629150"/>
            <a:ext cx="8315325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"Automatically detecting Sequential Scans and proposing Index fixes reduces resource consumption significantly."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1603325" y="3038475"/>
            <a:ext cx="16954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65%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1603325" y="3990975"/>
            <a:ext cx="1695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Reduction in Cost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5362426" y="3038475"/>
            <a:ext cx="19050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10x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5362426" y="3990975"/>
            <a:ext cx="19050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Faster Performance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9331076" y="3038475"/>
            <a:ext cx="12573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05088"/>
                </a:solidFill>
                <a:latin typeface="Lato"/>
                <a:ea typeface="Lato"/>
                <a:cs typeface="Lato"/>
                <a:sym typeface="Lato"/>
              </a:rPr>
              <a:t>0</a:t>
            </a:r>
            <a:endParaRPr/>
          </a:p>
        </p:txBody>
      </p:sp>
      <p:sp>
        <p:nvSpPr>
          <p:cNvPr id="265" name="Google Shape;265;p25"/>
          <p:cNvSpPr txBox="1"/>
          <p:nvPr/>
        </p:nvSpPr>
        <p:spPr>
          <a:xfrm>
            <a:off x="9331076" y="3990975"/>
            <a:ext cx="125730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Manual Risks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Optimization Impact</a:t>
            </a:r>
            <a:endParaRPr/>
          </a:p>
        </p:txBody>
      </p:sp>
      <p:sp>
        <p:nvSpPr>
          <p:cNvPr id="267" name="Google Shape;267;p25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2" name="Google Shape;27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38300"/>
            <a:ext cx="11049000" cy="4648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System Performance</a:t>
            </a:r>
            <a:endParaRPr/>
          </a:p>
        </p:txBody>
      </p:sp>
      <p:sp>
        <p:nvSpPr>
          <p:cNvPr id="275" name="Google Shape;275;p26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0" name="Google Shape;28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1" name="Google Shape;281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800350"/>
            <a:ext cx="11049000" cy="23241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82" name="Google Shape;282;p27"/>
          <p:cNvGraphicFramePr/>
          <p:nvPr/>
        </p:nvGraphicFramePr>
        <p:xfrm>
          <a:off x="581025" y="28098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{BCB7DA52-83BE-4832-8171-370496DDBE65}</a:tableStyleId>
              </a:tblPr>
              <a:tblGrid>
                <a:gridCol w="3400725"/>
                <a:gridCol w="2813900"/>
                <a:gridCol w="2678450"/>
                <a:gridCol w="2136875"/>
              </a:tblGrid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50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Metric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50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Spider Benchmark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50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BIRD Benchmark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350" u="none" cap="none" strike="noStrike">
                          <a:solidFill>
                            <a:srgbClr val="005088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Avg. Latency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Execution Accuracy (EX)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68.2%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54.5%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3.1s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Exact Match (EM)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13.6%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8.2%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76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Schema Linkage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85.3%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76.1%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—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83" name="Google Shape;283;p27"/>
          <p:cNvSpPr/>
          <p:nvPr/>
        </p:nvSpPr>
        <p:spPr>
          <a:xfrm>
            <a:off x="581025" y="3438525"/>
            <a:ext cx="340072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27"/>
          <p:cNvSpPr/>
          <p:nvPr/>
        </p:nvSpPr>
        <p:spPr>
          <a:xfrm>
            <a:off x="3981747" y="3438525"/>
            <a:ext cx="2813893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27"/>
          <p:cNvSpPr/>
          <p:nvPr/>
        </p:nvSpPr>
        <p:spPr>
          <a:xfrm>
            <a:off x="6795641" y="3438525"/>
            <a:ext cx="267845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27"/>
          <p:cNvSpPr/>
          <p:nvPr/>
        </p:nvSpPr>
        <p:spPr>
          <a:xfrm>
            <a:off x="9474100" y="3438525"/>
            <a:ext cx="2136874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7"/>
          <p:cNvSpPr/>
          <p:nvPr/>
        </p:nvSpPr>
        <p:spPr>
          <a:xfrm>
            <a:off x="581025" y="4005262"/>
            <a:ext cx="34007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27"/>
          <p:cNvSpPr/>
          <p:nvPr/>
        </p:nvSpPr>
        <p:spPr>
          <a:xfrm>
            <a:off x="3981747" y="4005262"/>
            <a:ext cx="2813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27"/>
          <p:cNvSpPr/>
          <p:nvPr/>
        </p:nvSpPr>
        <p:spPr>
          <a:xfrm>
            <a:off x="6795641" y="4005262"/>
            <a:ext cx="26784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7"/>
          <p:cNvSpPr/>
          <p:nvPr/>
        </p:nvSpPr>
        <p:spPr>
          <a:xfrm>
            <a:off x="9474100" y="4005262"/>
            <a:ext cx="21368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7"/>
          <p:cNvSpPr/>
          <p:nvPr/>
        </p:nvSpPr>
        <p:spPr>
          <a:xfrm>
            <a:off x="581025" y="4557712"/>
            <a:ext cx="34007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7"/>
          <p:cNvSpPr/>
          <p:nvPr/>
        </p:nvSpPr>
        <p:spPr>
          <a:xfrm>
            <a:off x="3981747" y="4557712"/>
            <a:ext cx="281389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7"/>
          <p:cNvSpPr/>
          <p:nvPr/>
        </p:nvSpPr>
        <p:spPr>
          <a:xfrm>
            <a:off x="6795641" y="4557712"/>
            <a:ext cx="267845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27"/>
          <p:cNvSpPr/>
          <p:nvPr/>
        </p:nvSpPr>
        <p:spPr>
          <a:xfrm>
            <a:off x="9474100" y="4557712"/>
            <a:ext cx="21368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27"/>
          <p:cNvSpPr txBox="1"/>
          <p:nvPr/>
        </p:nvSpPr>
        <p:spPr>
          <a:xfrm>
            <a:off x="571500" y="571500"/>
            <a:ext cx="11601450" cy="590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5088"/>
                </a:solidFill>
                <a:latin typeface="Poppins"/>
                <a:ea typeface="Poppins"/>
                <a:cs typeface="Poppins"/>
                <a:sym typeface="Poppins"/>
              </a:rPr>
              <a:t>Benchmark Results</a:t>
            </a:r>
            <a:endParaRPr/>
          </a:p>
        </p:txBody>
      </p:sp>
      <p:sp>
        <p:nvSpPr>
          <p:cNvPr id="296" name="Google Shape;296;p27"/>
          <p:cNvSpPr/>
          <p:nvPr/>
        </p:nvSpPr>
        <p:spPr>
          <a:xfrm>
            <a:off x="571500" y="1238250"/>
            <a:ext cx="1104900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